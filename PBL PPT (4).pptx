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2" r:id="rId9"/>
    <p:sldId id="261" r:id="rId10"/>
    <p:sldId id="267" r:id="rId11"/>
    <p:sldId id="268" r:id="rId12"/>
    <p:sldId id="270" r:id="rId13"/>
    <p:sldId id="272" r:id="rId14"/>
    <p:sldId id="273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00CDB-311E-4630-A220-658B66CEFB48}" v="64" dt="2026-04-12T18:54:51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2006khan@outlook.com" userId="ac7c20b9373c53e0" providerId="LiveId" clId="{76BD54C9-F8B0-45D3-A684-EF5B545E3CA8}"/>
    <pc:docChg chg="undo custSel addSld delSld modSld sldOrd">
      <pc:chgData name="ada2006khan@outlook.com" userId="ac7c20b9373c53e0" providerId="LiveId" clId="{76BD54C9-F8B0-45D3-A684-EF5B545E3CA8}" dt="2026-04-12T18:55:26.103" v="845" actId="20577"/>
      <pc:docMkLst>
        <pc:docMk/>
      </pc:docMkLst>
      <pc:sldChg chg="modSp mod">
        <pc:chgData name="ada2006khan@outlook.com" userId="ac7c20b9373c53e0" providerId="LiveId" clId="{76BD54C9-F8B0-45D3-A684-EF5B545E3CA8}" dt="2026-04-12T15:34:20.840" v="547" actId="27636"/>
        <pc:sldMkLst>
          <pc:docMk/>
          <pc:sldMk cId="380237416" sldId="256"/>
        </pc:sldMkLst>
        <pc:spChg chg="mod">
          <ac:chgData name="ada2006khan@outlook.com" userId="ac7c20b9373c53e0" providerId="LiveId" clId="{76BD54C9-F8B0-45D3-A684-EF5B545E3CA8}" dt="2026-04-12T15:34:20.840" v="547" actId="27636"/>
          <ac:spMkLst>
            <pc:docMk/>
            <pc:sldMk cId="380237416" sldId="256"/>
            <ac:spMk id="3" creationId="{33DAA6DE-3B6C-1A2F-6135-52EEA7D16507}"/>
          </ac:spMkLst>
        </pc:spChg>
      </pc:sldChg>
      <pc:sldChg chg="modSp mod">
        <pc:chgData name="ada2006khan@outlook.com" userId="ac7c20b9373c53e0" providerId="LiveId" clId="{76BD54C9-F8B0-45D3-A684-EF5B545E3CA8}" dt="2026-04-12T16:38:29.348" v="763" actId="20577"/>
        <pc:sldMkLst>
          <pc:docMk/>
          <pc:sldMk cId="2595481779" sldId="268"/>
        </pc:sldMkLst>
        <pc:spChg chg="mod">
          <ac:chgData name="ada2006khan@outlook.com" userId="ac7c20b9373c53e0" providerId="LiveId" clId="{76BD54C9-F8B0-45D3-A684-EF5B545E3CA8}" dt="2026-04-12T16:38:29.348" v="763" actId="20577"/>
          <ac:spMkLst>
            <pc:docMk/>
            <pc:sldMk cId="2595481779" sldId="268"/>
            <ac:spMk id="2" creationId="{BAE21598-4916-E1C9-5C57-E4252F275048}"/>
          </ac:spMkLst>
        </pc:spChg>
      </pc:sldChg>
      <pc:sldChg chg="del">
        <pc:chgData name="ada2006khan@outlook.com" userId="ac7c20b9373c53e0" providerId="LiveId" clId="{76BD54C9-F8B0-45D3-A684-EF5B545E3CA8}" dt="2026-04-12T16:38:25.645" v="761" actId="47"/>
        <pc:sldMkLst>
          <pc:docMk/>
          <pc:sldMk cId="3442402101" sldId="269"/>
        </pc:sldMkLst>
      </pc:sldChg>
      <pc:sldChg chg="addSp delSp modSp mod">
        <pc:chgData name="ada2006khan@outlook.com" userId="ac7c20b9373c53e0" providerId="LiveId" clId="{76BD54C9-F8B0-45D3-A684-EF5B545E3CA8}" dt="2026-04-12T16:18:58.114" v="703" actId="20577"/>
        <pc:sldMkLst>
          <pc:docMk/>
          <pc:sldMk cId="3824762993" sldId="270"/>
        </pc:sldMkLst>
        <pc:spChg chg="del">
          <ac:chgData name="ada2006khan@outlook.com" userId="ac7c20b9373c53e0" providerId="LiveId" clId="{76BD54C9-F8B0-45D3-A684-EF5B545E3CA8}" dt="2026-04-12T15:36:51.958" v="548" actId="478"/>
          <ac:spMkLst>
            <pc:docMk/>
            <pc:sldMk cId="3824762993" sldId="270"/>
            <ac:spMk id="7" creationId="{863DC7C2-C31F-4538-375C-CDE47F70CFBE}"/>
          </ac:spMkLst>
        </pc:spChg>
        <pc:spChg chg="add mod">
          <ac:chgData name="ada2006khan@outlook.com" userId="ac7c20b9373c53e0" providerId="LiveId" clId="{76BD54C9-F8B0-45D3-A684-EF5B545E3CA8}" dt="2026-04-12T16:07:41.757" v="632" actId="1076"/>
          <ac:spMkLst>
            <pc:docMk/>
            <pc:sldMk cId="3824762993" sldId="270"/>
            <ac:spMk id="8" creationId="{13B07232-3DFF-AB65-002D-AA409DFE8467}"/>
          </ac:spMkLst>
        </pc:spChg>
        <pc:spChg chg="add mod">
          <ac:chgData name="ada2006khan@outlook.com" userId="ac7c20b9373c53e0" providerId="LiveId" clId="{76BD54C9-F8B0-45D3-A684-EF5B545E3CA8}" dt="2026-04-12T16:18:58.114" v="703" actId="20577"/>
          <ac:spMkLst>
            <pc:docMk/>
            <pc:sldMk cId="3824762993" sldId="270"/>
            <ac:spMk id="9" creationId="{D8BE0828-345F-5D6F-1707-829CF11AB379}"/>
          </ac:spMkLst>
        </pc:spChg>
        <pc:picChg chg="add mod">
          <ac:chgData name="ada2006khan@outlook.com" userId="ac7c20b9373c53e0" providerId="LiveId" clId="{76BD54C9-F8B0-45D3-A684-EF5B545E3CA8}" dt="2026-04-12T16:18:00.323" v="686" actId="1076"/>
          <ac:picMkLst>
            <pc:docMk/>
            <pc:sldMk cId="3824762993" sldId="270"/>
            <ac:picMk id="5" creationId="{FD4F9452-6F48-DB47-0FAF-DF981D34DEFE}"/>
          </ac:picMkLst>
        </pc:picChg>
        <pc:picChg chg="del">
          <ac:chgData name="ada2006khan@outlook.com" userId="ac7c20b9373c53e0" providerId="LiveId" clId="{76BD54C9-F8B0-45D3-A684-EF5B545E3CA8}" dt="2026-04-12T15:36:53.726" v="549" actId="478"/>
          <ac:picMkLst>
            <pc:docMk/>
            <pc:sldMk cId="3824762993" sldId="270"/>
            <ac:picMk id="6" creationId="{126031E5-696D-FB07-AAE5-E802AE66C1A7}"/>
          </ac:picMkLst>
        </pc:picChg>
      </pc:sldChg>
      <pc:sldChg chg="del">
        <pc:chgData name="ada2006khan@outlook.com" userId="ac7c20b9373c53e0" providerId="LiveId" clId="{76BD54C9-F8B0-45D3-A684-EF5B545E3CA8}" dt="2026-04-12T16:19:14.891" v="707" actId="47"/>
        <pc:sldMkLst>
          <pc:docMk/>
          <pc:sldMk cId="797752420" sldId="271"/>
        </pc:sldMkLst>
      </pc:sldChg>
      <pc:sldChg chg="addSp delSp modSp add mod">
        <pc:chgData name="ada2006khan@outlook.com" userId="ac7c20b9373c53e0" providerId="LiveId" clId="{76BD54C9-F8B0-45D3-A684-EF5B545E3CA8}" dt="2026-04-12T18:55:06.220" v="832" actId="20577"/>
        <pc:sldMkLst>
          <pc:docMk/>
          <pc:sldMk cId="27431515" sldId="272"/>
        </pc:sldMkLst>
        <pc:spChg chg="mod">
          <ac:chgData name="ada2006khan@outlook.com" userId="ac7c20b9373c53e0" providerId="LiveId" clId="{76BD54C9-F8B0-45D3-A684-EF5B545E3CA8}" dt="2026-04-12T16:30:14.074" v="733" actId="1076"/>
          <ac:spMkLst>
            <pc:docMk/>
            <pc:sldMk cId="27431515" sldId="272"/>
            <ac:spMk id="2" creationId="{4334DAE0-01B0-F184-CA0A-8D0CA498A7FB}"/>
          </ac:spMkLst>
        </pc:spChg>
        <pc:spChg chg="add del mod">
          <ac:chgData name="ada2006khan@outlook.com" userId="ac7c20b9373c53e0" providerId="LiveId" clId="{76BD54C9-F8B0-45D3-A684-EF5B545E3CA8}" dt="2026-04-12T16:29:56.283" v="730" actId="478"/>
          <ac:spMkLst>
            <pc:docMk/>
            <pc:sldMk cId="27431515" sldId="272"/>
            <ac:spMk id="7" creationId="{13D9EFB0-D9F2-096F-7913-059043BA4B74}"/>
          </ac:spMkLst>
        </pc:spChg>
        <pc:spChg chg="del">
          <ac:chgData name="ada2006khan@outlook.com" userId="ac7c20b9373c53e0" providerId="LiveId" clId="{76BD54C9-F8B0-45D3-A684-EF5B545E3CA8}" dt="2026-04-12T16:19:25.577" v="708" actId="478"/>
          <ac:spMkLst>
            <pc:docMk/>
            <pc:sldMk cId="27431515" sldId="272"/>
            <ac:spMk id="8" creationId="{607F4B9A-A2E5-E198-4A6F-ADD90473E69E}"/>
          </ac:spMkLst>
        </pc:spChg>
        <pc:spChg chg="mod">
          <ac:chgData name="ada2006khan@outlook.com" userId="ac7c20b9373c53e0" providerId="LiveId" clId="{76BD54C9-F8B0-45D3-A684-EF5B545E3CA8}" dt="2026-04-12T16:28:26.400" v="724" actId="255"/>
          <ac:spMkLst>
            <pc:docMk/>
            <pc:sldMk cId="27431515" sldId="272"/>
            <ac:spMk id="9" creationId="{C380A05A-CBAF-EC04-4EF4-0B0F81D9A258}"/>
          </ac:spMkLst>
        </pc:spChg>
        <pc:spChg chg="add del mod">
          <ac:chgData name="ada2006khan@outlook.com" userId="ac7c20b9373c53e0" providerId="LiveId" clId="{76BD54C9-F8B0-45D3-A684-EF5B545E3CA8}" dt="2026-04-12T18:55:06.220" v="832" actId="20577"/>
          <ac:spMkLst>
            <pc:docMk/>
            <pc:sldMk cId="27431515" sldId="272"/>
            <ac:spMk id="10" creationId="{B4EC7B93-98EC-FBCE-F3D7-EF8CCD70C1BF}"/>
          </ac:spMkLst>
        </pc:spChg>
        <pc:picChg chg="del">
          <ac:chgData name="ada2006khan@outlook.com" userId="ac7c20b9373c53e0" providerId="LiveId" clId="{76BD54C9-F8B0-45D3-A684-EF5B545E3CA8}" dt="2026-04-12T16:19:57.111" v="714" actId="478"/>
          <ac:picMkLst>
            <pc:docMk/>
            <pc:sldMk cId="27431515" sldId="272"/>
            <ac:picMk id="5" creationId="{37C170DE-845D-3307-EA36-73A5506AC44D}"/>
          </ac:picMkLst>
        </pc:picChg>
        <pc:picChg chg="add mod">
          <ac:chgData name="ada2006khan@outlook.com" userId="ac7c20b9373c53e0" providerId="LiveId" clId="{76BD54C9-F8B0-45D3-A684-EF5B545E3CA8}" dt="2026-04-12T18:44:29.274" v="764" actId="1076"/>
          <ac:picMkLst>
            <pc:docMk/>
            <pc:sldMk cId="27431515" sldId="272"/>
            <ac:picMk id="6" creationId="{9252E0DF-7CD7-4594-0544-8451488CD7B1}"/>
          </ac:picMkLst>
        </pc:picChg>
      </pc:sldChg>
      <pc:sldChg chg="new del">
        <pc:chgData name="ada2006khan@outlook.com" userId="ac7c20b9373c53e0" providerId="LiveId" clId="{76BD54C9-F8B0-45D3-A684-EF5B545E3CA8}" dt="2026-04-12T16:19:09.579" v="705" actId="47"/>
        <pc:sldMkLst>
          <pc:docMk/>
          <pc:sldMk cId="1784614359" sldId="272"/>
        </pc:sldMkLst>
      </pc:sldChg>
      <pc:sldChg chg="addSp delSp modSp add mod">
        <pc:chgData name="ada2006khan@outlook.com" userId="ac7c20b9373c53e0" providerId="LiveId" clId="{76BD54C9-F8B0-45D3-A684-EF5B545E3CA8}" dt="2026-04-12T18:55:26.103" v="845" actId="20577"/>
        <pc:sldMkLst>
          <pc:docMk/>
          <pc:sldMk cId="656207339" sldId="273"/>
        </pc:sldMkLst>
        <pc:spChg chg="add del">
          <ac:chgData name="ada2006khan@outlook.com" userId="ac7c20b9373c53e0" providerId="LiveId" clId="{76BD54C9-F8B0-45D3-A684-EF5B545E3CA8}" dt="2026-04-12T18:54:07.169" v="790" actId="478"/>
          <ac:spMkLst>
            <pc:docMk/>
            <pc:sldMk cId="656207339" sldId="273"/>
            <ac:spMk id="8" creationId="{BBF52F6C-DBC4-08CF-6325-8D62AACDE2AD}"/>
          </ac:spMkLst>
        </pc:spChg>
        <pc:spChg chg="mod">
          <ac:chgData name="ada2006khan@outlook.com" userId="ac7c20b9373c53e0" providerId="LiveId" clId="{76BD54C9-F8B0-45D3-A684-EF5B545E3CA8}" dt="2026-04-12T18:54:00.025" v="788" actId="20577"/>
          <ac:spMkLst>
            <pc:docMk/>
            <pc:sldMk cId="656207339" sldId="273"/>
            <ac:spMk id="9" creationId="{869F060D-A86E-E241-195B-84F1FE62CFFE}"/>
          </ac:spMkLst>
        </pc:spChg>
        <pc:spChg chg="del">
          <ac:chgData name="ada2006khan@outlook.com" userId="ac7c20b9373c53e0" providerId="LiveId" clId="{76BD54C9-F8B0-45D3-A684-EF5B545E3CA8}" dt="2026-04-12T18:54:07.169" v="790" actId="478"/>
          <ac:spMkLst>
            <pc:docMk/>
            <pc:sldMk cId="656207339" sldId="273"/>
            <ac:spMk id="10" creationId="{47E537B3-7618-8D0C-A210-ADBF5DB4654E}"/>
          </ac:spMkLst>
        </pc:spChg>
        <pc:spChg chg="add del mod">
          <ac:chgData name="ada2006khan@outlook.com" userId="ac7c20b9373c53e0" providerId="LiveId" clId="{76BD54C9-F8B0-45D3-A684-EF5B545E3CA8}" dt="2026-04-12T18:54:37.436" v="801"/>
          <ac:spMkLst>
            <pc:docMk/>
            <pc:sldMk cId="656207339" sldId="273"/>
            <ac:spMk id="11" creationId="{4D8F0598-A2EA-7D4B-C293-5720CBAF8C6B}"/>
          </ac:spMkLst>
        </pc:spChg>
        <pc:spChg chg="add mod">
          <ac:chgData name="ada2006khan@outlook.com" userId="ac7c20b9373c53e0" providerId="LiveId" clId="{76BD54C9-F8B0-45D3-A684-EF5B545E3CA8}" dt="2026-04-12T18:55:26.103" v="845" actId="20577"/>
          <ac:spMkLst>
            <pc:docMk/>
            <pc:sldMk cId="656207339" sldId="273"/>
            <ac:spMk id="12" creationId="{9D43D760-5843-FB53-BB20-709F4C71CCC7}"/>
          </ac:spMkLst>
        </pc:spChg>
        <pc:picChg chg="add mod">
          <ac:chgData name="ada2006khan@outlook.com" userId="ac7c20b9373c53e0" providerId="LiveId" clId="{76BD54C9-F8B0-45D3-A684-EF5B545E3CA8}" dt="2026-04-12T18:45:28.979" v="779" actId="27614"/>
          <ac:picMkLst>
            <pc:docMk/>
            <pc:sldMk cId="656207339" sldId="273"/>
            <ac:picMk id="5" creationId="{E500B2F1-D5C8-65A2-3ED8-7A69AD844BBD}"/>
          </ac:picMkLst>
        </pc:picChg>
        <pc:picChg chg="del">
          <ac:chgData name="ada2006khan@outlook.com" userId="ac7c20b9373c53e0" providerId="LiveId" clId="{76BD54C9-F8B0-45D3-A684-EF5B545E3CA8}" dt="2026-04-12T18:45:10.104" v="766" actId="478"/>
          <ac:picMkLst>
            <pc:docMk/>
            <pc:sldMk cId="656207339" sldId="273"/>
            <ac:picMk id="6" creationId="{DC3FECFC-E6BF-6807-5D39-3FB29001D1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rmAutofit/>
          </a:bodyPr>
          <a:lstStyle/>
          <a:p>
            <a:r>
              <a:rPr lang="en-IN" sz="4800" dirty="0"/>
              <a:t>AgriTech: AI-Powered Smart Farming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Ada Khan</a:t>
            </a:r>
            <a:br>
              <a:rPr lang="en-IN" dirty="0"/>
            </a:br>
            <a:r>
              <a:rPr lang="en-IN" dirty="0"/>
              <a:t>Manas Srivastava</a:t>
            </a:r>
          </a:p>
          <a:p>
            <a:r>
              <a:rPr lang="en-IN" dirty="0"/>
              <a:t>2427030691/2427030707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Jeyakrishnan V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Proposed Solution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Agriculture in India - </a:t>
            </a:r>
            <a:r>
              <a:rPr lang="en-IN" sz="2200" dirty="0"/>
              <a:t>Backbone of India’s economy — </a:t>
            </a:r>
            <a:r>
              <a:rPr lang="en-US" sz="2200" dirty="0"/>
              <a:t>contributes about 18% to India’s GDP and employs over 40% of the population, playing a key role in food security and rural development.</a:t>
            </a:r>
            <a:br>
              <a:rPr lang="en-US" sz="2200" dirty="0"/>
            </a:br>
            <a:endParaRPr lang="en-US" altLang="en-US" sz="2200" dirty="0">
              <a:latin typeface="Arial" panose="020B0604020202020204" pitchFamily="34" charset="0"/>
            </a:endParaRPr>
          </a:p>
          <a:p>
            <a:r>
              <a:rPr lang="en-US" sz="2200" dirty="0"/>
              <a:t>Current Challenges Faced by Farmers - Farmers face issues like crop diseases, erratic weather, and low access to technology, leading to reduced yields and income.</a:t>
            </a:r>
            <a:br>
              <a:rPr lang="en-IN" altLang="en-US" sz="2200" b="1" dirty="0">
                <a:latin typeface="Arial" panose="020B0604020202020204" pitchFamily="34" charset="0"/>
              </a:rPr>
            </a:br>
            <a:endParaRPr lang="en-IN" altLang="en-US" sz="2200" b="1" dirty="0">
              <a:latin typeface="Arial" panose="020B0604020202020204" pitchFamily="34" charset="0"/>
            </a:endParaRPr>
          </a:p>
          <a:p>
            <a:r>
              <a:rPr lang="en-IN" sz="2200" dirty="0"/>
              <a:t>Need for Technological Intervention - </a:t>
            </a:r>
            <a:r>
              <a:rPr lang="en-US" sz="2200" dirty="0"/>
              <a:t>AI-based solutions can help farmers make data-driven decisions, detect diseases early, and improve productivity and profits.</a:t>
            </a:r>
            <a:endParaRPr lang="en-IN" altLang="en-US" sz="2200" b="1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89259-D025-9E81-2890-8F0145FF66C8}"/>
              </a:ext>
            </a:extLst>
          </p:cNvPr>
          <p:cNvSpPr txBox="1"/>
          <p:nvPr/>
        </p:nvSpPr>
        <p:spPr>
          <a:xfrm>
            <a:off x="838200" y="1454447"/>
            <a:ext cx="10616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Importance of Agriculture &amp; Current Challenges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CC057A-4A14-D9F3-8956-1728428EA48A}"/>
              </a:ext>
            </a:extLst>
          </p:cNvPr>
          <p:cNvSpPr txBox="1"/>
          <p:nvPr/>
        </p:nvSpPr>
        <p:spPr>
          <a:xfrm>
            <a:off x="651388" y="681346"/>
            <a:ext cx="10616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Role of AI and AgriTech in Model Farming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16288-D311-F319-67D0-21B3576C570A}"/>
              </a:ext>
            </a:extLst>
          </p:cNvPr>
          <p:cNvSpPr txBox="1"/>
          <p:nvPr/>
        </p:nvSpPr>
        <p:spPr>
          <a:xfrm>
            <a:off x="651388" y="1775449"/>
            <a:ext cx="983225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AgriTech - </a:t>
            </a:r>
            <a:r>
              <a:rPr lang="en-US" sz="2200" dirty="0"/>
              <a:t>Agricultural Technology refers to the use of AI, ML, IoT, drones, and data analytics to enhance agricultural productivity and efficiency.</a:t>
            </a:r>
            <a:br>
              <a:rPr lang="en-US" sz="2200" dirty="0"/>
            </a:b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Role of Artificial Intelligence - </a:t>
            </a:r>
            <a:r>
              <a:rPr lang="en-US" sz="2200" dirty="0"/>
              <a:t>Uses computer vision and drone imagery to detect crop diseases and identify crop types. Machine learning predicts yields, weather, and market demand while recommending irrigation, fertilizer, and planting schedules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  <a:br>
              <a:rPr lang="en-IN" altLang="en-US" sz="2200" dirty="0">
                <a:latin typeface="Arial" panose="020B0604020202020204" pitchFamily="34" charset="0"/>
              </a:rPr>
            </a:br>
            <a:endParaRPr lang="en-IN" altLang="en-US" sz="22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Why AI-Driven AgriTech Matters - </a:t>
            </a:r>
            <a:r>
              <a:rPr lang="en-US" sz="2200" dirty="0"/>
              <a:t>It boosts yield and income, reduces middlemen, promotes sustainable farming, and enables real-time, data-driven decisions.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endParaRPr lang="en-US" altLang="en-US" sz="22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08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64" y="11553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214"/>
            <a:ext cx="10515600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Deep learning models (CNN, ResNet) improve crop disease detection by 40–60% (2018–2024).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Drone and satellite imaging enable real-time crop health monitoring and yield prediction.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AI-powered image analysis can identify 25+ diseases in rice, wheat, and cotton.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Farmers using AI report up to 30% reduction in pesticide use and improved sustainability.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Early-stage infection detection allows timely intervention, increasing yield.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Example: Microsoft AI for Earth helped Andhra Pradesh farmers predict optimal sowing dates, boosting yields by 10–15%.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2C838-EE6F-2E94-5E1A-03238FD3F46B}"/>
              </a:ext>
            </a:extLst>
          </p:cNvPr>
          <p:cNvSpPr txBox="1"/>
          <p:nvPr/>
        </p:nvSpPr>
        <p:spPr>
          <a:xfrm>
            <a:off x="743564" y="1285048"/>
            <a:ext cx="10704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AI &amp; Computer Vision in Modern Agriculture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635-89EF-7E20-C2D0-2180A863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10096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/>
              <a:t>AI in Market Analysis and Crop Planning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CAE01-D692-87C3-FD90-32447CF13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00480"/>
            <a:ext cx="10876280" cy="487648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Research (2019–2023) focused on combining machine learning with market forecasting to    guide crop selection based on demand, weather, and soil.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CropIn Technology and IBM Watson provide AI-driven, market-aware insights to farmers in India.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Data-driven systems reduce dependence on intermediaries by predicting fair prices and profitable crops.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AI advisory systems can boost farmers’ income by 20–25% through optimized decisions and resource use.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Example: Agmarknet provides crop price data, enabling AI systems to recommend profitable selling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159052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Farmers face crop diseases, low yield prediction and lack of market insights. AI-driven solutions can detect diseases, monitor crops and suggest profitable planting strategies.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5949"/>
            <a:ext cx="11029335" cy="470212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Detect crop diseases early using AI and computer vision.</a:t>
            </a:r>
            <a:br>
              <a:rPr lang="en-US" altLang="en-US" sz="2400" dirty="0">
                <a:latin typeface="Arial" panose="020B0604020202020204" pitchFamily="34" charset="0"/>
              </a:rPr>
            </a:b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Identify and monitor crops through drone or image-based analysis.</a:t>
            </a:r>
            <a:br>
              <a:rPr lang="en-US" altLang="en-US" sz="2400" dirty="0">
                <a:latin typeface="Arial" panose="020B0604020202020204" pitchFamily="34" charset="0"/>
              </a:rPr>
            </a:b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Predict market demand and recommend profitable crops and selling strategies.</a:t>
            </a:r>
            <a:br>
              <a:rPr lang="en-US" altLang="en-US" sz="2400" dirty="0">
                <a:latin typeface="Arial" panose="020B0604020202020204" pitchFamily="34" charset="0"/>
              </a:rPr>
            </a:b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Empower farmers with data-driven insights to increase yield and income.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2B3BC7-0E78-FFE2-AA81-37692669C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319"/>
          <a:stretch>
            <a:fillRect/>
          </a:stretch>
        </p:blipFill>
        <p:spPr>
          <a:xfrm>
            <a:off x="7309111" y="319723"/>
            <a:ext cx="4882889" cy="6538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209" y="182095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209" y="1416383"/>
            <a:ext cx="8627918" cy="50803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AI-driven AgriTech system for crop disease detection, monitoring, and </a:t>
            </a:r>
            <a:br>
              <a:rPr lang="en-US" sz="2000" dirty="0"/>
            </a:br>
            <a:r>
              <a:rPr lang="en-US" sz="2000" dirty="0"/>
              <a:t>market-based recommendations to boost farmer yield and profit.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Steps to Provide Solution: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Data Collection: Capture crop images and field data using drones and sensors.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Crop Disease Detection: Analyze images with computer vision (CNNs) to detect diseases early.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Crop Monitoring: Identify crop types, growth stages, and health status using AI models.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Market Analysis: Collect regional market price and demand data; predict trends using ML models.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Crop Recommendation: Suggest which crops to grow, optimal quantity, and selling price based on health and market insights.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Farmer Dashboard / Alerts: Deliver actionable insights via a mobile app or dashboard, guiding farmers on farming and selling decisions.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A5FD0-204A-8733-FE96-3B1D28AF967F}"/>
              </a:ext>
            </a:extLst>
          </p:cNvPr>
          <p:cNvSpPr txBox="1"/>
          <p:nvPr/>
        </p:nvSpPr>
        <p:spPr>
          <a:xfrm>
            <a:off x="252485" y="218364"/>
            <a:ext cx="11505062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AutoNum type="arabicPeriod"/>
            </a:pPr>
            <a:r>
              <a:rPr lang="en-US" sz="4000" b="1" dirty="0"/>
              <a:t>AI-Based Crop Disease Detection Module</a:t>
            </a:r>
          </a:p>
          <a:p>
            <a:pPr algn="just"/>
            <a:endParaRPr lang="en-US" sz="4000" b="1" dirty="0"/>
          </a:p>
          <a:p>
            <a:pPr algn="just"/>
            <a:r>
              <a:rPr lang="en-US" sz="2000" dirty="0"/>
              <a:t>To achieve early disease detection, a Convolutional Neural Network (CNN)-based model will be developed using transfer learning techniques.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Key Approach:</a:t>
            </a:r>
          </a:p>
          <a:p>
            <a:pPr algn="just"/>
            <a:r>
              <a:rPr lang="en-US" sz="2000" dirty="0"/>
              <a:t>Datasets such as </a:t>
            </a:r>
            <a:r>
              <a:rPr lang="en-US" sz="2000" dirty="0" err="1"/>
              <a:t>PlantVillage</a:t>
            </a:r>
            <a:r>
              <a:rPr lang="en-US" sz="2000" dirty="0"/>
              <a:t> and crop-specific leaf datasets will be used.</a:t>
            </a:r>
          </a:p>
          <a:p>
            <a:pPr algn="just"/>
            <a:r>
              <a:rPr lang="en-US" sz="2000" dirty="0"/>
              <a:t>Images will undergo preprocessing (resizing, normalization, augmentation).</a:t>
            </a:r>
          </a:p>
          <a:p>
            <a:pPr algn="just"/>
            <a:r>
              <a:rPr lang="en-US" sz="2000" dirty="0"/>
              <a:t>Pre-trained architectures such as </a:t>
            </a:r>
            <a:r>
              <a:rPr lang="en-US" sz="2000" b="1" dirty="0" err="1"/>
              <a:t>MobileNet</a:t>
            </a:r>
            <a:r>
              <a:rPr lang="en-US" sz="2000" b="1" dirty="0"/>
              <a:t> (for efficiency)</a:t>
            </a:r>
            <a:r>
              <a:rPr lang="en-US" sz="2000" dirty="0"/>
              <a:t> or </a:t>
            </a:r>
            <a:r>
              <a:rPr lang="en-US" sz="2000" b="1" dirty="0"/>
              <a:t>ResNet50 (for higher accuracy)</a:t>
            </a:r>
            <a:r>
              <a:rPr lang="en-US" sz="2000" dirty="0"/>
              <a:t> will be fine-tuned.</a:t>
            </a:r>
          </a:p>
          <a:p>
            <a:pPr algn="just"/>
            <a:r>
              <a:rPr lang="en-US" sz="2000" dirty="0"/>
              <a:t>The model will classify diseases and detect early infection patterns.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Output:</a:t>
            </a:r>
          </a:p>
          <a:p>
            <a:pPr algn="just"/>
            <a:r>
              <a:rPr lang="en-US" sz="2000" dirty="0"/>
              <a:t>Predicted Disease Type</a:t>
            </a:r>
          </a:p>
          <a:p>
            <a:pPr algn="just"/>
            <a:r>
              <a:rPr lang="en-US" sz="2000" dirty="0"/>
              <a:t>Severity Estimation</a:t>
            </a:r>
          </a:p>
          <a:p>
            <a:pPr algn="just"/>
            <a:r>
              <a:rPr lang="en-US" sz="2000" dirty="0"/>
              <a:t>Suggested Preventive Action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This enables farmers to intervene early, reducing pesticide overuse and crop loss.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37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E21598-4916-E1C9-5C57-E4252F275048}"/>
              </a:ext>
            </a:extLst>
          </p:cNvPr>
          <p:cNvSpPr txBox="1"/>
          <p:nvPr/>
        </p:nvSpPr>
        <p:spPr>
          <a:xfrm>
            <a:off x="232012" y="307075"/>
            <a:ext cx="1170295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2. Market Forecasting and Price Prediction Module</a:t>
            </a:r>
          </a:p>
          <a:p>
            <a:endParaRPr lang="en-US" b="1" dirty="0"/>
          </a:p>
          <a:p>
            <a:r>
              <a:rPr lang="en-US" sz="2000" dirty="0"/>
              <a:t>To help farmers make profitable selling decisions, a machine learning-based time-series forecasting system will be developed.</a:t>
            </a:r>
          </a:p>
          <a:p>
            <a:endParaRPr lang="en-US" sz="2000" dirty="0"/>
          </a:p>
          <a:p>
            <a:r>
              <a:rPr lang="en-US" sz="2000" b="1" dirty="0"/>
              <a:t>Data Sources:</a:t>
            </a:r>
          </a:p>
          <a:p>
            <a:r>
              <a:rPr lang="en-US" sz="2000" dirty="0" err="1"/>
              <a:t>Agmarknet</a:t>
            </a:r>
            <a:r>
              <a:rPr lang="en-US" sz="2000" dirty="0"/>
              <a:t> price datasets</a:t>
            </a:r>
          </a:p>
          <a:p>
            <a:r>
              <a:rPr lang="en-US" sz="2000" dirty="0"/>
              <a:t>Historical demand data</a:t>
            </a:r>
          </a:p>
          <a:p>
            <a:r>
              <a:rPr lang="en-US" sz="2000" dirty="0"/>
              <a:t>Seasonal and weather trends</a:t>
            </a:r>
          </a:p>
          <a:p>
            <a:endParaRPr lang="en-US" sz="2000" b="1" dirty="0"/>
          </a:p>
          <a:p>
            <a:r>
              <a:rPr lang="en-US" sz="2000" b="1" dirty="0"/>
              <a:t>Output:</a:t>
            </a:r>
          </a:p>
          <a:p>
            <a:r>
              <a:rPr lang="en-US" sz="2000" dirty="0"/>
              <a:t>Future Price Predictions</a:t>
            </a:r>
          </a:p>
          <a:p>
            <a:r>
              <a:rPr lang="en-US" sz="2000" dirty="0"/>
              <a:t>Demand Trend Forecast</a:t>
            </a:r>
          </a:p>
          <a:p>
            <a:r>
              <a:rPr lang="en-US" sz="2000" dirty="0"/>
              <a:t>Seasonal Price Fluctuation Analysis</a:t>
            </a:r>
          </a:p>
          <a:p>
            <a:endParaRPr lang="en-US" sz="2000" dirty="0"/>
          </a:p>
          <a:p>
            <a:r>
              <a:rPr lang="en-US" sz="2000" dirty="0"/>
              <a:t>This reduces uncertainty in selling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48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1AE1B-6434-D380-2C8E-99B400134C69}"/>
              </a:ext>
            </a:extLst>
          </p:cNvPr>
          <p:cNvSpPr txBox="1"/>
          <p:nvPr/>
        </p:nvSpPr>
        <p:spPr>
          <a:xfrm>
            <a:off x="278072" y="126614"/>
            <a:ext cx="7451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RESULT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3E03AAB-34CD-7118-DCEC-4EFA0C86F3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The image is a line graph depicting the accuracy of a machine learning model, showing an increase in accuracy over time with the number of training epochs.&#10;&#10;AI-generated content may be incorrect.">
            <a:extLst>
              <a:ext uri="{FF2B5EF4-FFF2-40B4-BE49-F238E27FC236}">
                <a16:creationId xmlns:a16="http://schemas.microsoft.com/office/drawing/2014/main" id="{FD4F9452-6F48-DB47-0FAF-DF981D34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850" y="2108051"/>
            <a:ext cx="4738938" cy="3669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B07232-3DFF-AB65-002D-AA409DFE8467}"/>
              </a:ext>
            </a:extLst>
          </p:cNvPr>
          <p:cNvSpPr txBox="1"/>
          <p:nvPr/>
        </p:nvSpPr>
        <p:spPr>
          <a:xfrm>
            <a:off x="278072" y="896055"/>
            <a:ext cx="633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Comparision</a:t>
            </a:r>
            <a:r>
              <a:rPr lang="en-IN" dirty="0"/>
              <a:t> of 3 different models with the same dataset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BE0828-345F-5D6F-1707-829CF11AB379}"/>
              </a:ext>
            </a:extLst>
          </p:cNvPr>
          <p:cNvSpPr txBox="1"/>
          <p:nvPr/>
        </p:nvSpPr>
        <p:spPr>
          <a:xfrm>
            <a:off x="400050" y="1707356"/>
            <a:ext cx="68768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Pretrained MobileNetV2 Model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accuracy increases steadily and reaches </a:t>
            </a:r>
            <a:r>
              <a:rPr lang="en-US" b="1" dirty="0"/>
              <a:t>~99%.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accuracy remains around </a:t>
            </a:r>
            <a:r>
              <a:rPr lang="en-US" b="1" dirty="0"/>
              <a:t>90–93%</a:t>
            </a:r>
            <a:r>
              <a:rPr lang="en-US" dirty="0"/>
              <a:t>, indicating good performance on unseen data.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gap between training and validation accuracy suggests </a:t>
            </a:r>
            <a:r>
              <a:rPr lang="en-US" b="1" dirty="0"/>
              <a:t>mild overfitting</a:t>
            </a:r>
            <a:r>
              <a:rPr lang="en-US" dirty="0"/>
              <a:t>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Validation accuracy fluctuations indicate </a:t>
            </a:r>
            <a:r>
              <a:rPr lang="en-US" b="1" dirty="0"/>
              <a:t>variation in dataset patterns</a:t>
            </a:r>
            <a:r>
              <a:rPr lang="en-US" dirty="0"/>
              <a:t>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improvement for </a:t>
            </a:r>
            <a:r>
              <a:rPr lang="en-US" b="1" dirty="0"/>
              <a:t>better generalization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76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131E-1396-0D35-2994-6AA68181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4DAE0-01B0-F184-CA0A-8D0CA498A7FB}"/>
              </a:ext>
            </a:extLst>
          </p:cNvPr>
          <p:cNvSpPr txBox="1"/>
          <p:nvPr/>
        </p:nvSpPr>
        <p:spPr>
          <a:xfrm>
            <a:off x="278072" y="126614"/>
            <a:ext cx="7451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RESULT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4B1F1C3-ED7B-B241-030E-DE03A204CD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0A05A-CBAF-EC04-4EF4-0B0F81D9A258}"/>
              </a:ext>
            </a:extLst>
          </p:cNvPr>
          <p:cNvSpPr txBox="1"/>
          <p:nvPr/>
        </p:nvSpPr>
        <p:spPr>
          <a:xfrm>
            <a:off x="400050" y="1707356"/>
            <a:ext cx="6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2. Attention Model (ADF-Net idea) </a:t>
            </a:r>
          </a:p>
        </p:txBody>
      </p:sp>
      <p:pic>
        <p:nvPicPr>
          <p:cNvPr id="6" name="Picture 5" descr="The image displays a graph comparing the accuracy of an attention model across different training and validation intervals, showing a consistent increase in accuracy over time.&#10;&#10;AI-generated content may be incorrect.">
            <a:extLst>
              <a:ext uri="{FF2B5EF4-FFF2-40B4-BE49-F238E27FC236}">
                <a16:creationId xmlns:a16="http://schemas.microsoft.com/office/drawing/2014/main" id="{9252E0DF-7CD7-4594-0544-8451488C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455" y="2305144"/>
            <a:ext cx="4191249" cy="3200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D9EFB0-D9F2-096F-7913-059043BA4B74}"/>
              </a:ext>
            </a:extLst>
          </p:cNvPr>
          <p:cNvSpPr txBox="1"/>
          <p:nvPr/>
        </p:nvSpPr>
        <p:spPr>
          <a:xfrm>
            <a:off x="892969" y="5321390"/>
            <a:ext cx="678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4EC7B93-98EC-FBCE-F3D7-EF8CCD70C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45" y="2314044"/>
            <a:ext cx="123139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accuracy reaches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~100%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accuracy improves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~93–94%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Attention helps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diseased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Slight fluctuations due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variation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 still present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31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C904-EBE2-6A29-6342-C0E88DA8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F0FB3-9673-6951-12DE-AABD27E05E64}"/>
              </a:ext>
            </a:extLst>
          </p:cNvPr>
          <p:cNvSpPr txBox="1"/>
          <p:nvPr/>
        </p:nvSpPr>
        <p:spPr>
          <a:xfrm>
            <a:off x="278072" y="126614"/>
            <a:ext cx="7451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RESULT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2BE5D30-A1BF-358B-40E0-B27BC6C501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F060D-A86E-E241-195B-84F1FE62CFFE}"/>
              </a:ext>
            </a:extLst>
          </p:cNvPr>
          <p:cNvSpPr txBox="1"/>
          <p:nvPr/>
        </p:nvSpPr>
        <p:spPr>
          <a:xfrm>
            <a:off x="400050" y="1707356"/>
            <a:ext cx="6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 Multi-scale Model (ADF-Net idea)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94EFA-20D8-0758-8BB7-C82572FB9A95}"/>
              </a:ext>
            </a:extLst>
          </p:cNvPr>
          <p:cNvSpPr txBox="1"/>
          <p:nvPr/>
        </p:nvSpPr>
        <p:spPr>
          <a:xfrm>
            <a:off x="892969" y="5321390"/>
            <a:ext cx="678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 descr="The diagram illustrates a multi-scale model's accuracy, showing a high accuracy of 0.95 for training data, which decreases to 0.70 for validation data across various data scales.&#10;&#10;AI-generated content may be incorrect.">
            <a:extLst>
              <a:ext uri="{FF2B5EF4-FFF2-40B4-BE49-F238E27FC236}">
                <a16:creationId xmlns:a16="http://schemas.microsoft.com/office/drawing/2014/main" id="{E500B2F1-D5C8-65A2-3ED8-7A69AD84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850" y="2041640"/>
            <a:ext cx="4246159" cy="327975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9D43D760-5843-FB53-BB20-709F4C71C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91" y="2375089"/>
            <a:ext cx="49968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 learning in early epochs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accuracy (~94–95%)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 overfitting (train ≈ validation)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Stable performance after convergence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Captures both small &amp; large disease patterns </a:t>
            </a:r>
          </a:p>
        </p:txBody>
      </p:sp>
    </p:spTree>
    <p:extLst>
      <p:ext uri="{BB962C8B-B14F-4D97-AF65-F5344CB8AC3E}">
        <p14:creationId xmlns:p14="http://schemas.microsoft.com/office/powerpoint/2010/main" val="656207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41" y="1494502"/>
            <a:ext cx="11233355" cy="526025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50" dirty="0">
                <a:latin typeface="Arial" panose="020B0604020202020204" pitchFamily="34" charset="0"/>
              </a:rPr>
              <a:t>Published research studies and reports (2018–2024) on AI and machine learning in agriculture, particularly on crop disease detection, yield prediction, and market forecasting.</a:t>
            </a:r>
            <a:br>
              <a:rPr lang="en-US" altLang="en-US" sz="2250" dirty="0">
                <a:latin typeface="Arial" panose="020B0604020202020204" pitchFamily="34" charset="0"/>
              </a:rPr>
            </a:br>
            <a:endParaRPr lang="en-US" altLang="en-US" sz="225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50" dirty="0">
                <a:latin typeface="Arial" panose="020B0604020202020204" pitchFamily="34" charset="0"/>
              </a:rPr>
              <a:t>Case studies and implementations by companies like Microsoft AI for Earth, </a:t>
            </a:r>
            <a:r>
              <a:rPr lang="en-US" altLang="en-US" sz="2250" dirty="0" err="1">
                <a:latin typeface="Arial" panose="020B0604020202020204" pitchFamily="34" charset="0"/>
              </a:rPr>
              <a:t>CropIn</a:t>
            </a:r>
            <a:r>
              <a:rPr lang="en-US" altLang="en-US" sz="2250" dirty="0">
                <a:latin typeface="Arial" panose="020B0604020202020204" pitchFamily="34" charset="0"/>
              </a:rPr>
              <a:t> Technology, and IBM Watson Decision Platform for Agriculture.</a:t>
            </a:r>
            <a:br>
              <a:rPr lang="en-US" altLang="en-US" sz="2250" dirty="0">
                <a:latin typeface="Arial" panose="020B0604020202020204" pitchFamily="34" charset="0"/>
              </a:rPr>
            </a:br>
            <a:endParaRPr lang="en-US" altLang="en-US" sz="225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50" dirty="0">
                <a:latin typeface="Arial" panose="020B0604020202020204" pitchFamily="34" charset="0"/>
              </a:rPr>
              <a:t>Government and public platforms, e.g., </a:t>
            </a:r>
            <a:r>
              <a:rPr lang="en-US" altLang="en-US" sz="2250" dirty="0" err="1">
                <a:latin typeface="Arial" panose="020B0604020202020204" pitchFamily="34" charset="0"/>
              </a:rPr>
              <a:t>Agmarknet</a:t>
            </a:r>
            <a:r>
              <a:rPr lang="en-US" altLang="en-US" sz="2250" dirty="0">
                <a:latin typeface="Arial" panose="020B0604020202020204" pitchFamily="34" charset="0"/>
              </a:rPr>
              <a:t> in India, which provides open crop price data.</a:t>
            </a:r>
            <a:br>
              <a:rPr lang="en-US" altLang="en-US" sz="2250" dirty="0">
                <a:latin typeface="Arial" panose="020B0604020202020204" pitchFamily="34" charset="0"/>
              </a:rPr>
            </a:br>
            <a:endParaRPr lang="en-US" altLang="en-US" sz="225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50" dirty="0">
                <a:latin typeface="Arial" panose="020B0604020202020204" pitchFamily="34" charset="0"/>
              </a:rPr>
              <a:t>General knowledge about AI applications in </a:t>
            </a:r>
            <a:r>
              <a:rPr lang="en-US" altLang="en-US" sz="2250" dirty="0" err="1">
                <a:latin typeface="Arial" panose="020B0604020202020204" pitchFamily="34" charset="0"/>
              </a:rPr>
              <a:t>agritech</a:t>
            </a:r>
            <a:r>
              <a:rPr lang="en-US" altLang="en-US" sz="2250" dirty="0">
                <a:latin typeface="Arial" panose="020B0604020202020204" pitchFamily="34" charset="0"/>
              </a:rPr>
              <a:t>—like the use of CNNs, </a:t>
            </a:r>
            <a:r>
              <a:rPr lang="en-US" altLang="en-US" sz="2250" dirty="0" err="1">
                <a:latin typeface="Arial" panose="020B0604020202020204" pitchFamily="34" charset="0"/>
              </a:rPr>
              <a:t>ResNet</a:t>
            </a:r>
            <a:r>
              <a:rPr lang="en-US" altLang="en-US" sz="2250" dirty="0">
                <a:latin typeface="Arial" panose="020B0604020202020204" pitchFamily="34" charset="0"/>
              </a:rPr>
              <a:t>, drones, and advisory systems—which is widely documented in scientific literature and news articles.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1096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AgriTech: AI-Powered Smart Farming</vt:lpstr>
      <vt:lpstr>Outline</vt:lpstr>
      <vt:lpstr>Introduction</vt:lpstr>
      <vt:lpstr>PowerPoint Presentation</vt:lpstr>
      <vt:lpstr>Literature Review</vt:lpstr>
      <vt:lpstr>AI in Market Analysis and Crop Planning</vt:lpstr>
      <vt:lpstr>Problem Statement</vt:lpstr>
      <vt:lpstr>Objectives</vt:lpstr>
      <vt:lpstr>Proposed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ada2006khan@outlook.com</cp:lastModifiedBy>
  <cp:revision>3</cp:revision>
  <dcterms:created xsi:type="dcterms:W3CDTF">2025-09-29T05:03:41Z</dcterms:created>
  <dcterms:modified xsi:type="dcterms:W3CDTF">2026-04-12T18:55:31Z</dcterms:modified>
</cp:coreProperties>
</file>